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dd0f9fe-ca9a-2759-b920-fd0e1d489355}">
          <p14:sldIdLst>
            <p14:sldId id="256"/>
            <p14:sldId id="257"/>
          </p14:sldIdLst>
        </p14:section>
        <p14:section name="Design" id="{7537b956-9d64-e5b1-1959-65f6abba3872}">
          <p14:sldIdLst>
            <p14:sldId id="258"/>
            <p14:sldId id="259"/>
          </p14:sldIdLst>
        </p14:section>
        <p14:section name="Model" id="{4b84162f-ae5f-352e-153e-1c62f0b1494d}">
          <p14:sldIdLst>
            <p14:sldId id="260"/>
            <p14:sldId id="261"/>
            <p14:sldId id="262"/>
            <p14:sldId id="263"/>
          </p14:sldIdLst>
        </p14:section>
        <p14:section name="System" id="{553498e7-743c-4b86-67cf-d6f4f78edf8e}">
          <p14:sldIdLst>
            <p14:sldId id="264"/>
            <p14:sldId id="265"/>
            <p14:sldId id="266"/>
            <p14:sldId id="267"/>
          </p14:sldIdLst>
        </p14:section>
        <p14:section name="Wrap-up" id="{92fe07f0-222a-f8b2-b880-9e2c652083c3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+mn-lt"/>
              </a:rPr>
              <a:t>Chronic disease history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E9F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Diabetes</c:v>
                  </c:pt>
                  <c:pt idx="1">
                    <c:v>Heart Disease</c:v>
                  </c:pt>
                  <c:pt idx="2">
                    <c:v>Hypertension</c:v>
                  </c:pt>
                  <c:pt idx="3">
                    <c:v>None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</c:v>
                </c:pt>
                <c:pt idx="1">
                  <c:v>254</c:v>
                </c:pt>
                <c:pt idx="2">
                  <c:v>254</c:v>
                </c:pt>
                <c:pt idx="3">
                  <c:v>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+mn-lt"/>
              </a:rPr>
              <a:t>Smoking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Smoking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F96"/>
              </a:solidFill>
              <a:effectLst/>
            </c:spPr>
          </c:dPt>
          <c:dPt>
            <c:idx val="1"/>
            <c:bubble3D val="0"/>
            <c:spPr>
              <a:solidFill>
                <a:srgbClr val="FF6B5B"/>
              </a:solidFill>
              <a:effectLst/>
            </c:spPr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Never</c:v>
                </c:pt>
                <c:pt idx="1">
                  <c:v>Current</c:v>
                </c:pt>
                <c:pt idx="2">
                  <c:v>Former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350</c:v>
                </c:pt>
                <c:pt idx="1">
                  <c:v>335</c:v>
                </c:pt>
                <c:pt idx="2">
                  <c:v>315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+mn-lt"/>
              </a:rPr>
              <a:t>Classifier performance on the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E9F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81.5</c:v>
                </c:pt>
                <c:pt idx="1">
                  <c:v>80.5</c:v>
                </c:pt>
                <c:pt idx="2">
                  <c:v>81</c:v>
                </c:pt>
                <c:pt idx="3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macro-F1 (%)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81.4</c:v>
                </c:pt>
                <c:pt idx="1">
                  <c:v>80.4</c:v>
                </c:pt>
                <c:pt idx="2">
                  <c:v>81.1</c:v>
                </c:pt>
                <c:pt idx="3">
                  <c:v>83.8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01168"/>
            <a:ext cx="50292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Healthcare Analytics  |  AI Health Assistant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3108960" cy="310896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960120" cy="9601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mage 0" descr="/home/claude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64008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Symbiosis Institute of Technology, Nagpur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804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Symbiosis International (Deemed University)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HEALTHCARE ANALYTICS  |  PROJECT PRESENTATION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288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Health Assistant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Voice-Enabled Health Risk Assessment System using Machine Learning, RAG and Vapi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40880" y="1554480"/>
            <a:ext cx="1645920" cy="1645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11680"/>
            <a:ext cx="731520" cy="731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3383280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3456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Mukund Kuthe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PRN 23070521082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566160" y="3383280"/>
            <a:ext cx="2926080" cy="731520"/>
          </a:xfrm>
          <a:prstGeom prst="roundRect">
            <a:avLst>
              <a:gd name="adj" fmla="val 15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749040" y="3456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Manasvi Puranik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74904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PRN 23070521090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7th Semester   |   Subject: Healthcare Analytics   |   Faculty Guide: Dr. Prerna Mishra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01  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Preliminary health guidance is hard to reach: long forms, unreliable searches, no idea where to go. The AI Health Assistant removes that friction. A person phones in, answers spoken questions and gets a risk class, a source-grounded answer and nearby care.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965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441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98" y="2544318"/>
            <a:ext cx="205740" cy="205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2441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Voice agent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53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Vapi phone call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2331720"/>
            <a:ext cx="1965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0048" y="2441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2544318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82112" y="2441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 risk model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953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Low, Moderate, High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1965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3584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" y="3687318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78992" y="3584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RAG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94360" y="4096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1,163-page book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2560320" y="3474720"/>
            <a:ext cx="1965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70048" y="3584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918" y="3687318"/>
            <a:ext cx="205740" cy="2057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182112" y="3584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Location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2697480" y="40965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Nearby facilities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46320" y="1097280"/>
            <a:ext cx="38404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292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029200" y="1481328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Hands-free screening over a phone call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 risk from 9 easy inputs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Ground answers in a medical book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 nearby healthcare from a spoken 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Expose clean REST endpoints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846320" y="3931920"/>
            <a:ext cx="384048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02920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Scope: screening and information only. Not a diagnosis or a clinician substitute.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 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212080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07008"/>
            <a:ext cx="4937760" cy="3182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097280"/>
            <a:ext cx="2743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Interaction layer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508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Vapi agent Health-ai: speech to text, LLM reasoning, text to speech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2743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Service layer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697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FastAPI: POST /health-assessment, POST /nearest-hospitals, GET /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3474720"/>
            <a:ext cx="2743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Intelligence and data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886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Risk model, FAISS index, Groq LLM, geocoding and places APIs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03  TOOLS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07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309878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207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Voice platform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Vapi assistant Health-ai v4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Soniox STT RT v5 (1.8% WER)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GPT-4.1 conversation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Elliot v2 text to speech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207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70" y="1309878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0208" y="1207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FastAPI and Uvicorn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Pydantic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Auto-generated /docs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httpx for external calls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207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309878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84848" y="1207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scikit-learn 1.7.2, joblib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XGBoost, LightGBM, CatBoost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SHAP with fallback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pandas for cleaning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907792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12039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5568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LangChain RetrievalQA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all-MiniLM-L6-v2 embeddings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FAISS (faiss-cpu)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pdfplumber PDF parsing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91840" y="2907792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70" y="312039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50208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Language model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Groq-hosted gpt-oss-120b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 0.5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Prompt: answer from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fallback reply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26480" y="2907792"/>
            <a:ext cx="2651760" cy="1664208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312039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84848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Location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geocode.maps.co geocoding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Geoapify Places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Healthcare category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Radius and proximity bias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Age: 18 to 79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BMI: 10.6 to 39.8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Gender: 3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664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Smoking: 3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166420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1664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Alcohol: up to 19/wk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66420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664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Activity: up to 10 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231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Sleep: up to 11.7 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231136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65960" y="2231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Chronic: 4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231136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231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Stress: 1 to 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92608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20240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inputs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292608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classes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42976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“None” in Chronic Disease is a real category, so the file is read with keep_default_na=False.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029200" y="1097280"/>
          <a:ext cx="36576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4" name="Chart 1" descr=""/>
          <p:cNvGraphicFramePr/>
          <p:nvPr/>
        </p:nvGraphicFramePr>
        <p:xfrm>
          <a:off x="5029200" y="2880360"/>
          <a:ext cx="36576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Rule-Based Risk Score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05  TARGET DESIGN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Rule: points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&lt;40: 0 | 40-54: 5 | 55-64: 10 | 65+: 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BMI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&lt;18.5: 5 | 18.5-24.9: 0 | 25-29.9: 5 | 30-34.9: 10 | 35+: 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Smoking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Never: 0 | Former: 5 | Current: 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Alcohol / week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Up to 7: 0 | 8-14: 5 | 14+: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Activity h/week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2.5+: 0 | 1-2.5: 5 | &lt;1: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Sleep h/day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7-9: 0 | 6-7 or 9-10: 5 | other: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Stress (1-10)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1-3: 0 | 4-6: 5 | 7-10: 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Chronic disease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None: 0 | HTN: 10 | Diabetes: 12 | Heart: 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8346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18872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original label matched the rules only 33.9% of the time, which is random-guess level. So a transparent 0 to 100 score is the training target.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2743200"/>
            <a:ext cx="283464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743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Low: 34 or below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7432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244 cases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3383280"/>
            <a:ext cx="2834640" cy="530352"/>
          </a:xfrm>
          <a:prstGeom prst="roundRect">
            <a:avLst>
              <a:gd name="adj" fmla="val 1724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3832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Moderate: 35 to 49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3832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420 cases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4023360"/>
            <a:ext cx="2834640" cy="530352"/>
          </a:xfrm>
          <a:prstGeom prst="roundRect">
            <a:avLst>
              <a:gd name="adj" fmla="val 1724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40233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High: 50 and above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402336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336 cases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Training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06  MODELLING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08760" cy="17830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459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Standardise names, impute, dedupe, drop implausible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8745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097280"/>
            <a:ext cx="1508760" cy="17830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85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Encode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16459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Scale numerics, one-hot categoricals (ColumnTransformer)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097280"/>
            <a:ext cx="1508760" cy="17830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020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0740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Score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16459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Derive the 0 to 100 risk target and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18745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097280"/>
            <a:ext cx="1508760" cy="17830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1848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9904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Split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16459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80/20 stratified: 800 train, 200 test, seed 42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18745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097280"/>
            <a:ext cx="1508760" cy="17830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348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Compare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164592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5-fold CV, best by macro-F1 or MAE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CLASSIFIERS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474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Logistic 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Random Forest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XGBoost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Weighted Ensemble (1, 1, 2)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30632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REGRESSORS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3474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Random Forest and XGBoost predict the 0 to 100 score.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Best chosen by mean absolute error.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30632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3474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predict_risk returns level, score, probabilities and the top 5 factors via SHAP, with a feature-importance fallback.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07  EVALUATION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572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97280"/>
            <a:ext cx="33832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097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Weighted Ensemble test accuracy (best classifier)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REGRESSION (RISK SCORE)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331720"/>
          <a:ext cx="3383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6400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MAE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4.58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3.88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0.974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1.66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303520" y="3337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ENSEMBLE PER-CLASS (TEST)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0.73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0.78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0.86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Knowledge Base and RAG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08  GROUNDED ANSWERS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BUILT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Extract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pdfplumber reads Medical_Book.pdf, 1,163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182880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4416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Chunk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73736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Recursive splitter: 150 characters, 25 overlap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53712" y="182880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4416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Embed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73736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all-MiniLM-L6-v2 sentence vectors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02552" y="182880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4416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Index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73736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FAISS saved to vectorstore, built lazily once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AT QUERY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3832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Profile + predicted risk + caller’s question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04872" y="34747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299008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Retrieve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3832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 3 chunks (k = 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53712" y="34747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9008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Generate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3832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Groq gpt-oss-120b, temperature 0.5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02552" y="347472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990088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08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3832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Grounded reply, spoken by the agent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Guard rail: off-topic questions get a fixed “I don’t know” reply instead of an invented answer.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Backend API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09  SERVICE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07008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07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Health check: “Health Assistant Running”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21408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21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/health-assessment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Predicts risk, then RAG answer from the 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035808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35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/nearest-hospitals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Geocode, then Geoapify search: 5 km, max 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Inputs: Age, Gender, BMI, SmokingStatus, Alcohol, Activity, Sleep, ChronicDisease, StressLevel + question. Invalid body returns HTTP 422.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/home/claude/img/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70432"/>
            <a:ext cx="3657600" cy="180136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846320" y="315468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21868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/health-assessment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"Age": 45, "Gender": "Male", "BMI": 27.5,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"SmokingStatus": "Former",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"AlcoholConsumptionPerWeek": 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"PhysicalActivityHoursPerWeek":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"SleepDurationHoursPerDay": 6.5,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"ChronicDiseaseHistory": "Hypertension",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"StressLevel": 6, "question": "..."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Voice Assistant on Vapi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10  INTERACTION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/v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38912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840480"/>
            <a:ext cx="22402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3904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TOOL: health-assesment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Posts 9 inputs + question to /health-assessment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840480"/>
            <a:ext cx="22402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98648" y="3904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TOOL: Hospital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Asks for city, posts to /nearest-hospitals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109728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13487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35040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Soniox STT RT v5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1097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410 ms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303520" y="196596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4068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2174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3504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GPT-4.1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68096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690 ms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303520" y="2834640"/>
            <a:ext cx="33832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4068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980" y="308610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0350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Elliot v2 voice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68096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430 ms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303520" y="370332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40680" y="3703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About 1.5 s total, roughly $0.09 per minute. Published v4, Balanced preset, assistant speaks first and asks for 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Workflow and Test Call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11  END TO 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Dial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55448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47088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Collect 9 details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27248" y="155448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36976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Ask question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17136" y="155448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00016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Call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07024" y="155448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16752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089904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Risk + answer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96912" y="1554480"/>
            <a:ext cx="182880" cy="1828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09728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16002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Speak, find care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27432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0" descr="/home/claude/img/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2560320" cy="172821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4864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Inbound call, 23 Sep 2026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474720" y="246888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7472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min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call duration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172200" y="246888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7220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$0.32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cost of the call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474720" y="3566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7472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4,567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347472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log events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172200" y="3566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7220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by 1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61722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confirmed questions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3474720" y="457200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Transcript confirmed the greeting, age (20) and gender (Male) flow.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12  REFLECTION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Screening only, not clinically validated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Dataset’s own label is unreliable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Saved model keys need aligning with the API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150-character chunks give thin context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Facility search mixes clinics and pharmacies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CORS, no authentication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3487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Real, clinically labelled data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Emergency detection for red-flag symptoms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Hindi and Marathi voice support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Larger chunks, re-ranking, cited sources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Consent, auth, secure data storage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 hospitals, add directions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Files and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13  REPOSITORY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612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main.py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FastAPI, model loading, RAG, endpoints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82496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74650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79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1682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model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514600" y="1682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Cleaning, scoring, training, SHAP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67712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51560" y="2267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dataset.csv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514600" y="2267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1,000 lifestyle and health rows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52928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08376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51560" y="28529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Medical_Book.pdf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251460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1,163-page RAG knowledge base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438144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35021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9359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34381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requirements.txt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2514600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Python dependency list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4023360"/>
            <a:ext cx="44805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78808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5156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photos/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51460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 screenshots: FastAPI docs, Vapi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212080" y="1097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RUN THE BACKEND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21208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212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576072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 install -r requirements.txt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212080" y="2103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2120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576072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secret_api_keys.py (Groq, geocoding, Geoapify)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5212080" y="2743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5212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57607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Place health_risk_model.joblib beside main.py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521208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212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57607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uvicorn main:app, first call builds the index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5212080" y="4023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5212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576072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/docs, expose over HTTPS, point both Vapi tools to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2130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End to end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Voice, API, ML, RAG and location work as one service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07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2130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Transparent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Rule-based score with SHAP-style explanations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207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32130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Modular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Each part can be validated and improved alone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accuracy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60604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1,163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2606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page knowledge base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75488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Vapi tools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90372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</a:t>
            </a:r>
            <a:endParaRPr lang="en-US" sz="3000" dirty="0"/>
          </a:p>
        </p:txBody>
      </p:sp>
      <p:sp>
        <p:nvSpPr>
          <p:cNvPr id="25" name="Text 20"/>
          <p:cNvSpPr txBox="1"/>
          <p:nvPr/>
        </p:nvSpPr>
        <p:spPr>
          <a:xfrm>
            <a:off x="69037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voice latency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Next: validate on clinical data, align the model artifact, harden deployment.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8" name="Text 23"/>
          <p:cNvSpPr txBox="1"/>
          <p:nvPr/>
        </p:nvSpPr>
        <p:spPr>
          <a:xfrm>
            <a:off x="32004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Mukund Kuthe  |  Manasvi Puranik  |  Guide: Dr. Prerna Mishra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AI">
  <a:themeElements>
    <a:clrScheme name="HealthAI">
      <a:dk1>
        <a:srgbClr val="1F2937"/>
      </a:dk1>
      <a:lt1>
        <a:srgbClr val="FFFFFF"/>
      </a:lt1>
      <a:dk2>
        <a:srgbClr val="0B2545"/>
      </a:dk2>
      <a:lt2>
        <a:srgbClr val="E8F6F4"/>
      </a:lt2>
      <a:accent1>
        <a:srgbClr val="0E9F96"/>
      </a:accent1>
      <a:accent2>
        <a:srgbClr val="FF6B5B"/>
      </a:accent2>
      <a:accent3>
        <a:srgbClr val="F4B942"/>
      </a:accent3>
      <a:accent4>
        <a:srgbClr val="3A6EA5"/>
      </a:accent4>
      <a:accent5>
        <a:srgbClr val="7BC8C0"/>
      </a:accent5>
      <a:accent6>
        <a:srgbClr val="6B7280"/>
      </a:accent6>
      <a:hlink>
        <a:srgbClr val="0E9F96"/>
      </a:hlink>
      <a:folHlink>
        <a:srgbClr val="6B7280"/>
      </a:folHlink>
    </a:clrScheme>
    <a:fontScheme name="Health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Assistant</dc:title>
  <dc:subject>PptxGenJS Presentation</dc:subject>
  <dc:creator>Mukund Kuthe, Manasvi Puranik</dc:creator>
  <cp:lastModifiedBy>Mukund Kuthe, Manasvi Puranik</cp:lastModifiedBy>
  <cp:revision>1</cp:revision>
  <dcterms:created xsi:type="dcterms:W3CDTF">2026-10-17T07:34:31Z</dcterms:created>
  <dcterms:modified xsi:type="dcterms:W3CDTF">2026-10-17T07:34:31Z</dcterms:modified>
</cp:coreProperties>
</file>